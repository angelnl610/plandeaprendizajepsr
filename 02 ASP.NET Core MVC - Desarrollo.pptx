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Proxima Nova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6C8716-E24C-4413-97F6-42F6879751DF}">
  <a:tblStyle styleId="{876C8716-E24C-4413-97F6-42F6879751D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ProximaNova-bold.fntdata"/><Relationship Id="rId14" Type="http://schemas.openxmlformats.org/officeDocument/2006/relationships/slide" Target="slides/slide8.xml"/><Relationship Id="rId36" Type="http://schemas.openxmlformats.org/officeDocument/2006/relationships/font" Target="fonts/ProximaNova-regular.fntdata"/><Relationship Id="rId17" Type="http://schemas.openxmlformats.org/officeDocument/2006/relationships/slide" Target="slides/slide11.xml"/><Relationship Id="rId39" Type="http://schemas.openxmlformats.org/officeDocument/2006/relationships/font" Target="fonts/ProximaNova-boldItalic.fntdata"/><Relationship Id="rId16" Type="http://schemas.openxmlformats.org/officeDocument/2006/relationships/slide" Target="slides/slide10.xml"/><Relationship Id="rId38" Type="http://schemas.openxmlformats.org/officeDocument/2006/relationships/font" Target="fonts/ProximaNova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54f3571cd6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54f3571cd6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ab0bdc089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ab0bdc089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ab0bdc089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ab0bdc089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ab0bdc089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ab0bdc089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ab0bdc089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ab0bdc089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ab0bdc089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ab0bdc089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a88df90da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a88df90da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a2009e4da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a2009e4da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ab0bdc089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ab0bdc089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ab0bdc089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ab0bdc089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ab0bdc0890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ab0bdc089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ab0bdc089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ab0bdc089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ab0bdc0890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ab0bdc0890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ab0bdc0890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ab0bdc0890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ab0bdc0890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ab0bdc0890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ad062e9a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ad062e9a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ab0bdc0890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ab0bdc089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ad23fc86b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ad23fc86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ad23fc86b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ad23fc86b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ad3af47f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ad3af47f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ad23fc86b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ad23fc86b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ad23fc86b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ad23fc86b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ad3af47f9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ad3af47f9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ad3af47f9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ad3af47f9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ad488ec06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ad488ec06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ad488ec06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ad488ec06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ad488ec06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ad488ec06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ad488ec0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ad488ec0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et12duran@gmail.com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slide" Target="/ppt/slides/slide21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slide" Target="/ppt/slides/slide18.xml"/><Relationship Id="rId4" Type="http://schemas.openxmlformats.org/officeDocument/2006/relationships/slide" Target="/ppt/slides/slide18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htmlquick.com/es/tutorials/tables.html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github.com/ET12DE1Computacion/EjemploMVC" TargetMode="External"/><Relationship Id="rId4" Type="http://schemas.openxmlformats.org/officeDocument/2006/relationships/hyperlink" Target="https://github.com/ET12DE1Computacion/EjemploMVC" TargetMode="External"/><Relationship Id="rId5" Type="http://schemas.openxmlformats.org/officeDocument/2006/relationships/hyperlink" Target="https://docs.microsoft.com/es-mx/aspnet/core/mvc/overview?view=aspnetcore-3.1" TargetMode="External"/><Relationship Id="rId6" Type="http://schemas.openxmlformats.org/officeDocument/2006/relationships/hyperlink" Target="https://www.apress.com/gp/book/9781484254394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596075"/>
            <a:ext cx="8123100" cy="19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400"/>
              <a:t>ASP.NET Core MVC</a:t>
            </a:r>
            <a:br>
              <a:rPr lang="es-419" sz="4400"/>
            </a:br>
            <a:r>
              <a:rPr lang="es-419" sz="4400"/>
              <a:t>Desarrollo v(1.0)</a:t>
            </a:r>
            <a:endParaRPr sz="44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42"/>
            <a:ext cx="8123100" cy="14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2200"/>
              <a:t>Luis Duran - </a:t>
            </a:r>
            <a:r>
              <a:rPr lang="es-419" sz="2200" u="sng">
                <a:solidFill>
                  <a:srgbClr val="674E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et12duran@gmail.com</a:t>
            </a:r>
            <a:endParaRPr sz="2200">
              <a:solidFill>
                <a:srgbClr val="674EA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2200"/>
              <a:t>Programación Sobre Redes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2200"/>
              <a:t>E.T. N° 12 “Lib. Gral. Jose de San Martín”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7675" y="3182350"/>
            <a:ext cx="1185875" cy="116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Introducción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11700" y="1981950"/>
            <a:ext cx="85206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Ya vimos como ASP.NET Core MVC organiza su estructura y los roles que tienen los componentes del mismo.</a:t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Ahora vamos a ver estos componentes con </a:t>
            </a:r>
            <a:r>
              <a:rPr lang="es-419" sz="18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más</a:t>
            </a:r>
            <a:r>
              <a:rPr lang="es-419" sz="18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detalle y su interacción.</a:t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Esquema proyecto - HomeController.cs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11700" y="1235325"/>
            <a:ext cx="6066900" cy="30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5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Vamos a ubicarnos en la la clase HomeController.cs</a:t>
            </a:r>
            <a:endParaRPr sz="165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65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Esta clase es el controlador que se crea por defecto en nuestro proyecto. Todas las clases Controller que agreguemos se sugiere que tengan el sufijo la palabra </a:t>
            </a:r>
            <a:r>
              <a:rPr i="1" lang="es-419" sz="165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Controller</a:t>
            </a:r>
            <a:r>
              <a:rPr lang="es-419" sz="165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para que el framework pueda identificarlas.</a:t>
            </a:r>
            <a:endParaRPr sz="165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65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Entonces podemos decir que estamos hablando del controlador </a:t>
            </a:r>
            <a:r>
              <a:rPr i="1" lang="es-419" sz="165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Home</a:t>
            </a:r>
            <a:r>
              <a:rPr lang="es-419" sz="165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. Lo importante de este controlador es que es el controlador iniciado por defecto en el framework.</a:t>
            </a:r>
            <a:endParaRPr sz="165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65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Si bien tiene por defecto también un </a:t>
            </a:r>
            <a:r>
              <a:rPr lang="es-419" sz="165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código</a:t>
            </a:r>
            <a:r>
              <a:rPr lang="es-419" sz="165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, vamos a cambiarlo</a:t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8550" y="1422925"/>
            <a:ext cx="2453741" cy="229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HomeController simple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153900" y="1017725"/>
            <a:ext cx="86784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Vamos a cambiar el contenido del archivo al siguiente:</a:t>
            </a:r>
            <a:endParaRPr i="1"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153900" y="1377325"/>
            <a:ext cx="4367700" cy="24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lang="es-419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2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Microsoft</a:t>
            </a:r>
            <a:r>
              <a:rPr lang="es-419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2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AspNetCore</a:t>
            </a:r>
            <a:r>
              <a:rPr lang="es-419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2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Mvc</a:t>
            </a:r>
            <a:r>
              <a:rPr lang="es-419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lang="es-419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2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EjemploMVC</a:t>
            </a:r>
            <a:r>
              <a:rPr lang="es-419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2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Controllers;</a:t>
            </a:r>
            <a:endParaRPr sz="1200">
              <a:solidFill>
                <a:srgbClr val="4EC9B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419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2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-419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2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HomeController</a:t>
            </a:r>
            <a:r>
              <a:rPr lang="es-419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s-419" sz="12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Controller</a:t>
            </a:r>
            <a:endParaRPr sz="1200">
              <a:solidFill>
                <a:srgbClr val="4EC9B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2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2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419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2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s-419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2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Index</a:t>
            </a:r>
            <a:r>
              <a:rPr lang="es-419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2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	=&gt; </a:t>
            </a:r>
            <a:r>
              <a:rPr lang="es-419" sz="12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"Hola Mundo MVC, soy el Index del    controlador"</a:t>
            </a:r>
            <a:r>
              <a:rPr lang="es-419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4645500" y="1739463"/>
            <a:ext cx="41868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Si compilamos y ejecutamos este proyecto, se va a abrir el navegador mostrandonos:</a:t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5500" y="2638125"/>
            <a:ext cx="4186800" cy="91861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153900" y="3809950"/>
            <a:ext cx="8678400" cy="8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Al 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código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que viene por defecto en </a:t>
            </a:r>
            <a:r>
              <a:rPr i="1"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HomeController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cambiamos su método Index para que devuelva un </a:t>
            </a:r>
            <a:r>
              <a:rPr i="1"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string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. Vamos a detallar esto.</a:t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HomeController - Explicación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153900" y="1701300"/>
            <a:ext cx="8678400" cy="19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Analicemos 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qué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cosas pasaron para que se muestre esa ventana en el navegador: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8925" lvl="0" marL="360001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700"/>
              <a:buFont typeface="Proxima Nova"/>
              <a:buAutoNum type="arabicParenR"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El navegador Web le hace una petición HTTP a nuestro servidor ASP.NET Core (que corre de manera local en nuestro terminal).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8925" lvl="0" marL="360001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700"/>
              <a:buFont typeface="Proxima Nova"/>
              <a:buAutoNum type="arabicParenR"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Por la configuración que hicimos en el anterior código la </a:t>
            </a:r>
            <a:r>
              <a:rPr lang="es-419" sz="1700" u="sng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acción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i="1"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Index()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(método) procesa la solicitud y devuelve la cadena de texto.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Comprendiendo las rutas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153900" y="1059950"/>
            <a:ext cx="8678400" cy="3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El sistema de </a:t>
            </a:r>
            <a:r>
              <a:rPr i="1" lang="es-419" sz="18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enrutamiento</a:t>
            </a:r>
            <a:r>
              <a:rPr lang="es-419" sz="18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de ASP.NET Core es responsable de seleccionar el </a:t>
            </a:r>
            <a:r>
              <a:rPr i="1" lang="es-419" sz="18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endpoint</a:t>
            </a:r>
            <a:r>
              <a:rPr lang="es-419" sz="18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(a veces llamado </a:t>
            </a:r>
            <a:r>
              <a:rPr i="1" lang="es-419" sz="18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Punto final de comunicación</a:t>
            </a:r>
            <a:r>
              <a:rPr lang="es-419" sz="18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, una interfaz de exposición) que va a manejar la petición HTTP.</a:t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Una </a:t>
            </a:r>
            <a:r>
              <a:rPr b="1" lang="es-419" sz="18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ruta</a:t>
            </a:r>
            <a:r>
              <a:rPr lang="es-419" sz="18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es una regla que se usa para decidir como una petición HTTP es manejada. Los proyectos tienen una regla por defecto, en este caso cualquiera de las siguientes direcciones web va a ser manejada por la </a:t>
            </a:r>
            <a:r>
              <a:rPr b="1" lang="es-419" sz="18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acción</a:t>
            </a:r>
            <a:r>
              <a:rPr lang="es-419" sz="18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i="1" lang="es-419" sz="18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Index</a:t>
            </a:r>
            <a:r>
              <a:rPr lang="es-419" sz="18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que definimos</a:t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Proxima Nova"/>
              <a:buChar char="●"/>
            </a:pPr>
            <a:r>
              <a:rPr lang="es-419" sz="18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/</a:t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Proxima Nova"/>
              <a:buChar char="●"/>
            </a:pPr>
            <a:r>
              <a:rPr lang="es-419" sz="18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/Home</a:t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Proxima Nova"/>
              <a:buChar char="●"/>
            </a:pPr>
            <a:r>
              <a:rPr lang="es-419" sz="18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/Home/Index</a:t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Preparando controlador para 1ra Vista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153900" y="1017725"/>
            <a:ext cx="86784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Vamos a cambiar el contenido del controlador Home al siguiente:</a:t>
            </a:r>
            <a:endParaRPr i="1"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153900" y="1377325"/>
            <a:ext cx="8520600" cy="22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lang="es-419" sz="1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7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Microsoft</a:t>
            </a:r>
            <a:r>
              <a:rPr lang="es-419" sz="1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7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AspNetCore</a:t>
            </a:r>
            <a:r>
              <a:rPr lang="es-419" sz="1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7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Mvc</a:t>
            </a:r>
            <a:r>
              <a:rPr lang="es-419" sz="1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7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lang="es-419" sz="1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7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EjemploMVC</a:t>
            </a:r>
            <a:r>
              <a:rPr lang="es-419" sz="1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7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Controllers</a:t>
            </a:r>
            <a:endParaRPr sz="1700">
              <a:solidFill>
                <a:srgbClr val="4EC9B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419" sz="1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7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-419" sz="1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7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HomeController</a:t>
            </a:r>
            <a:r>
              <a:rPr lang="es-419" sz="1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s-419" sz="17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Controller</a:t>
            </a:r>
            <a:endParaRPr sz="1700">
              <a:solidFill>
                <a:srgbClr val="4EC9B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7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419" sz="1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7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ViewResult</a:t>
            </a:r>
            <a:r>
              <a:rPr lang="es-419" sz="1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Index</a:t>
            </a:r>
            <a:r>
              <a:rPr lang="es-419" sz="1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 =&gt; </a:t>
            </a:r>
            <a:r>
              <a:rPr lang="es-419" sz="1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s-419" sz="1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419" sz="17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"PrimeraVista"</a:t>
            </a:r>
            <a:r>
              <a:rPr lang="es-419" sz="1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7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7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232800" y="3412150"/>
            <a:ext cx="8678400" cy="12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Si ejecutamos el proyecto como esta, nos va a dar un error puesto que aún no existe la vista Views/Home/PrimeraVista.cshtml.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También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vemos que se 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cambió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el index devolviendo una vista usando 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expresión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lambda.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Preparando nuestra primera vista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0"/>
          <p:cNvSpPr txBox="1"/>
          <p:nvPr/>
        </p:nvSpPr>
        <p:spPr>
          <a:xfrm>
            <a:off x="311700" y="1778525"/>
            <a:ext cx="6229800" cy="18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Bien, para esta primera parte vamos a posicionarnos sobre la carpeta </a:t>
            </a:r>
            <a:r>
              <a:rPr i="1"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Views/Home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0" marL="360001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B7B7B7"/>
              </a:buClr>
              <a:buSzPts val="1700"/>
              <a:buFont typeface="Proxima Nova"/>
              <a:buAutoNum type="arabicParenR"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hacemos click derecho para seleccionar Agregar -&gt; Vista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0" marL="36000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700"/>
              <a:buFont typeface="Proxima Nova"/>
              <a:buAutoNum type="arabicParenR"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en la plantilla seleccionamos “Vista 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vacía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”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0" marL="36000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700"/>
              <a:buFont typeface="Proxima Nova"/>
              <a:buAutoNum type="arabicParenR"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le asignamos el nombre PrimeraVista.cshtml al archivo y le damos aceptar al asistente.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3900" y="1170125"/>
            <a:ext cx="2297700" cy="2904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PrimeraVista</a:t>
            </a:r>
            <a:r>
              <a:rPr lang="es-419">
                <a:solidFill>
                  <a:schemeClr val="dk2"/>
                </a:solidFill>
              </a:rPr>
              <a:t>.cshtml para Hola Mundo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153900" y="1017725"/>
            <a:ext cx="53544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Vamos a cambiar el contenido del archivo al siguiente:</a:t>
            </a:r>
            <a:endParaRPr i="1"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153900" y="1377325"/>
            <a:ext cx="43677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@{ </a:t>
            </a:r>
            <a:endParaRPr sz="15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5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Layout</a:t>
            </a: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419" sz="15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5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5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es-419" sz="15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5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&lt;</a:t>
            </a:r>
            <a:r>
              <a:rPr lang="es-419" sz="15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5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"Primer ejemplo"</a:t>
            </a: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5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5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&lt;/</a:t>
            </a:r>
            <a:r>
              <a:rPr lang="es-419" sz="15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5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es-419" sz="15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5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&lt;</a:t>
            </a:r>
            <a:r>
              <a:rPr lang="es-419" sz="15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5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Hola</a:t>
            </a: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5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mundo</a:t>
            </a: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5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MVC</a:t>
            </a: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5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5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5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Primer</a:t>
            </a: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5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ejemplo</a:t>
            </a: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5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de</a:t>
            </a: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5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vista</a:t>
            </a:r>
            <a:endParaRPr sz="1500">
              <a:solidFill>
                <a:srgbClr val="9CDCF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&lt;/</a:t>
            </a:r>
            <a:r>
              <a:rPr lang="es-419" sz="15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5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5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5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153900" y="4288525"/>
            <a:ext cx="867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Lo que hicimos dentro del bloque C# (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área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de 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código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s-419" sz="15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@{...}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)fue indicar que no vamos a usar ninguna plantilla.</a:t>
            </a:r>
            <a:endParaRPr sz="16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4645500" y="1739463"/>
            <a:ext cx="41868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Si compilamos y ejecutamos este proyecto, se va a abrir el navegador mostrandonos:</a:t>
            </a:r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5501" y="2497188"/>
            <a:ext cx="4186801" cy="1429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Agregando dinámica a la página - Controller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153900" y="1017725"/>
            <a:ext cx="86784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Vamos a cambiar el contenido del controlador Home al siguiente:</a:t>
            </a:r>
            <a:endParaRPr i="1" sz="16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232800" y="3958750"/>
            <a:ext cx="86784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Estamos llamando al 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método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que crea la vista 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pasándole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como 2do 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parámetro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el objeto que nosotros queremos mostrar en la vista (en este caso, la cadena momento)</a:t>
            </a:r>
            <a:endParaRPr sz="16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153900" y="1301125"/>
            <a:ext cx="8520600" cy="27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3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Microsoft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3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AspNetCore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3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Mvc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3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EjemploMVC.Controllers</a:t>
            </a:r>
            <a:endParaRPr sz="1300">
              <a:solidFill>
                <a:srgbClr val="4EC9B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3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3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HomeController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s-419" sz="13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Controller</a:t>
            </a:r>
            <a:endParaRPr sz="1300">
              <a:solidFill>
                <a:srgbClr val="4EC9B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3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3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ViewResult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3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Index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3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{</a:t>
            </a:r>
            <a:endParaRPr sz="13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		</a:t>
            </a:r>
            <a:r>
              <a:rPr lang="es-419" sz="13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3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hora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419" sz="13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DateTime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3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Now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3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Hour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  	</a:t>
            </a:r>
            <a:r>
              <a:rPr lang="es-419" sz="13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3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momento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419" sz="13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"Buenas tardes"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  	</a:t>
            </a:r>
            <a:r>
              <a:rPr lang="es-419" sz="13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419" sz="13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hora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3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s-419" sz="13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momento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419" sz="13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"Buenos días"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  	</a:t>
            </a:r>
            <a:r>
              <a:rPr lang="es-419" sz="13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3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419" sz="13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"PrimeraVista"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419" sz="13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momento</a:t>
            </a: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586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Agregando </a:t>
            </a:r>
            <a:r>
              <a:rPr lang="es-419">
                <a:solidFill>
                  <a:schemeClr val="dk2"/>
                </a:solidFill>
              </a:rPr>
              <a:t>dinámica</a:t>
            </a:r>
            <a:r>
              <a:rPr lang="es-419">
                <a:solidFill>
                  <a:schemeClr val="dk2"/>
                </a:solidFill>
              </a:rPr>
              <a:t> a la </a:t>
            </a:r>
            <a:r>
              <a:rPr lang="es-419">
                <a:solidFill>
                  <a:schemeClr val="dk2"/>
                </a:solidFill>
              </a:rPr>
              <a:t>página - PrimeraVista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5" name="Google Shape;135;p23"/>
          <p:cNvSpPr txBox="1"/>
          <p:nvPr/>
        </p:nvSpPr>
        <p:spPr>
          <a:xfrm>
            <a:off x="153900" y="1017725"/>
            <a:ext cx="86784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Vamos a agregar cambiar el contenido del archivo al siguiente:</a:t>
            </a:r>
            <a:endParaRPr i="1"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6" name="Google Shape;136;p23"/>
          <p:cNvSpPr txBox="1"/>
          <p:nvPr/>
        </p:nvSpPr>
        <p:spPr>
          <a:xfrm>
            <a:off x="153900" y="1377325"/>
            <a:ext cx="43677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@model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endParaRPr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@{</a:t>
            </a:r>
            <a:endParaRPr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Layout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419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&lt;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"Primer ejemplo"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&lt;/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&lt;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Hola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mundo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MVC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@Model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rimer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ejemplo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de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vista</a:t>
            </a:r>
            <a:endParaRPr>
              <a:solidFill>
                <a:srgbClr val="9CDCF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&lt;/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" name="Google Shape;137;p23"/>
          <p:cNvSpPr txBox="1"/>
          <p:nvPr/>
        </p:nvSpPr>
        <p:spPr>
          <a:xfrm>
            <a:off x="4645500" y="1739463"/>
            <a:ext cx="41868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Si compilamos y ejecutamos este proyecto, se va a abrir el navegador mostrandonos:</a:t>
            </a:r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2463" y="2441775"/>
            <a:ext cx="3272875" cy="12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Agregando dinámica a la página - PrimeraVista - 2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196750"/>
            <a:ext cx="8520600" cy="3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Del 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código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anterior vamos a detallar lo siguiente: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700"/>
              <a:buFont typeface="Proxima Nova"/>
              <a:buChar char="●"/>
            </a:pPr>
            <a:r>
              <a:rPr lang="es-419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@model 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: con este bloque de código C# le indicamos al motor Razor que nuestra vista, recibe un parámetro del Modelo (en nuestro caso la cadena) que siempre tiene el nombre @model . Es importante que si queremos que el intellisense nos sugiera métodos y propiedades del objeto le agregamos el tipo de dato a la derecha.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B7B7B7"/>
              </a:buClr>
              <a:buSzPts val="1700"/>
              <a:buFont typeface="Proxima Nova"/>
              <a:buChar char="●"/>
            </a:pP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@Model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: es la utilización del objeto Modelo en la parte de HTML. Al principio puede ser confuso que se indique arriba de todo que se usa un modelo con m minúscula y se implemente en la vista con M mayúscula. Como en este caso es un string es fácil incrustarlo, pero si fuese un objeto custom también es valido </a:t>
            </a:r>
            <a:r>
              <a:rPr i="1"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objeto.Propiedad</a:t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Segundo Ejemplo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311700" y="1196750"/>
            <a:ext cx="85206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Ahora que conocemos un poco 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más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de los controladores y las vistas, vamos a hacer otro ejemplo donde veamos 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más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cosas.</a:t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Agregando Modelos - Invitación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6" name="Google Shape;156;p26"/>
          <p:cNvSpPr txBox="1"/>
          <p:nvPr/>
        </p:nvSpPr>
        <p:spPr>
          <a:xfrm>
            <a:off x="153900" y="1017725"/>
            <a:ext cx="86784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Dentro de la carpeta models vamos a agregar las siguientes clases.</a:t>
            </a:r>
            <a:endParaRPr i="1"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7" name="Google Shape;157;p26"/>
          <p:cNvSpPr txBox="1"/>
          <p:nvPr/>
        </p:nvSpPr>
        <p:spPr>
          <a:xfrm>
            <a:off x="311700" y="1468325"/>
            <a:ext cx="4845000" cy="26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Invitacion.cs</a:t>
            </a:r>
            <a:endParaRPr sz="195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EjemploMVC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4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Models</a:t>
            </a:r>
            <a:endParaRPr sz="1450">
              <a:solidFill>
                <a:srgbClr val="4EC9B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endParaRPr sz="1450">
              <a:solidFill>
                <a:srgbClr val="4EC9B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}</a:t>
            </a:r>
            <a:endParaRPr sz="14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Apellido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}</a:t>
            </a:r>
            <a:endParaRPr sz="14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Telefono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}</a:t>
            </a:r>
            <a:endParaRPr sz="14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? </a:t>
            </a:r>
            <a:r>
              <a:rPr lang="es-419" sz="14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Vendra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 }</a:t>
            </a:r>
            <a:endParaRPr sz="14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4EC9B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Agregando Modelos - Repositorio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3" name="Google Shape;163;p27"/>
          <p:cNvSpPr txBox="1"/>
          <p:nvPr/>
        </p:nvSpPr>
        <p:spPr>
          <a:xfrm>
            <a:off x="153900" y="1017725"/>
            <a:ext cx="8678400" cy="6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Esta clase 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estática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tiene la intención de simular un acceso a datos, estos pueden ser por ejemplo ORM, Servicios en la nube, archivos, etc.</a:t>
            </a:r>
            <a:endParaRPr i="1"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311700" y="1767275"/>
            <a:ext cx="8370600" cy="27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Repositorio.cs</a:t>
            </a:r>
            <a:endParaRPr sz="15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EjemploMVC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4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Models</a:t>
            </a:r>
            <a:endParaRPr sz="1450">
              <a:solidFill>
                <a:srgbClr val="4EC9B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Repositorio</a:t>
            </a:r>
            <a:endParaRPr sz="1450">
              <a:solidFill>
                <a:srgbClr val="4EC9B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4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s-419" sz="14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invitaciones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4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&gt;();</a:t>
            </a:r>
            <a:endParaRPr sz="14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IEnumerable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4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s-419" sz="14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Invitaciones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=&gt; </a:t>
            </a:r>
            <a:r>
              <a:rPr lang="es-419" sz="14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invitaciones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AgregarInvitación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419" sz="14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4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=&gt; </a:t>
            </a:r>
            <a:r>
              <a:rPr lang="es-419" sz="14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invitaciones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45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419" sz="14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4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IEnumerable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4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s-419" sz="14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InvitacionesAceptadas</a:t>
            </a:r>
            <a:endParaRPr sz="1450">
              <a:solidFill>
                <a:srgbClr val="9CDCF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=&gt; </a:t>
            </a:r>
            <a:r>
              <a:rPr lang="es-419" sz="14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invitaciones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45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419" sz="14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=&gt; </a:t>
            </a:r>
            <a:r>
              <a:rPr lang="es-419" sz="14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4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Vendra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5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Home para Fiesta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153900" y="1017725"/>
            <a:ext cx="86784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Vamos a cambiar el contenido del controlador Home:</a:t>
            </a:r>
            <a:endParaRPr i="1" sz="16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1" name="Google Shape;171;p28"/>
          <p:cNvSpPr txBox="1"/>
          <p:nvPr/>
        </p:nvSpPr>
        <p:spPr>
          <a:xfrm>
            <a:off x="153900" y="1301125"/>
            <a:ext cx="8520600" cy="3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EjemploMVC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Models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using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Microsoft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AspNetCore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Mvc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namespace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EjemploMVC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Controllers</a:t>
            </a:r>
            <a:endParaRPr sz="1000">
              <a:solidFill>
                <a:srgbClr val="4EC9B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HomeController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s-419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Controller</a:t>
            </a:r>
            <a:endParaRPr sz="1000">
              <a:solidFill>
                <a:srgbClr val="4EC9B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0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IActionResult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Index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 =&gt; </a:t>
            </a:r>
            <a:r>
              <a:rPr lang="es-419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[</a:t>
            </a:r>
            <a:r>
              <a:rPr lang="es-419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HttpGet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IActionResult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InvitacionForm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 =&gt; </a:t>
            </a:r>
            <a:r>
              <a:rPr lang="es-419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[</a:t>
            </a:r>
            <a:r>
              <a:rPr lang="es-419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HttpPost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IActionResult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InvitacionForm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419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{</a:t>
            </a:r>
            <a:endParaRPr sz="10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s-419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Repositorio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AgregarInvitacion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419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s-419" sz="10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419" sz="10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"Gracias"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419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0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0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ViewResult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ListaRespuestas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 =&gt; </a:t>
            </a:r>
            <a:r>
              <a:rPr lang="es-419" sz="10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419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Repositorio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0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InvitacionesAceptadas</a:t>
            </a: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586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586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Verbos HTTP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7" name="Google Shape;177;p29"/>
          <p:cNvSpPr txBox="1"/>
          <p:nvPr/>
        </p:nvSpPr>
        <p:spPr>
          <a:xfrm>
            <a:off x="153900" y="1017725"/>
            <a:ext cx="8678400" cy="13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En el 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código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vemos que aparecen 2 Data Annotation (</a:t>
            </a:r>
            <a:r>
              <a:rPr i="1"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DA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) nuevos, los mismos corresponden con los Verbos HTTP, los mismos son indicadores para el servidor en el sentido de que hacer con el recurso (entendiendo por recurso a la información).</a:t>
            </a:r>
            <a:endParaRPr sz="16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Entre los principales que vamos a usar se encuentran:</a:t>
            </a:r>
            <a:endParaRPr sz="16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178" name="Google Shape;178;p29"/>
          <p:cNvGraphicFramePr/>
          <p:nvPr/>
        </p:nvGraphicFramePr>
        <p:xfrm>
          <a:off x="311700" y="24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{876C8716-E24C-4413-97F6-42F6879751DF}</a:tableStyleId>
              </a:tblPr>
              <a:tblGrid>
                <a:gridCol w="895625"/>
                <a:gridCol w="1665525"/>
                <a:gridCol w="5959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600">
                          <a:solidFill>
                            <a:srgbClr val="8E7CC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Verbo</a:t>
                      </a:r>
                      <a:endParaRPr sz="1600">
                        <a:solidFill>
                          <a:srgbClr val="8E7CC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600">
                          <a:solidFill>
                            <a:srgbClr val="8E7CC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Data Annotation</a:t>
                      </a:r>
                      <a:endParaRPr sz="1600">
                        <a:solidFill>
                          <a:srgbClr val="8E7CC3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600">
                          <a:solidFill>
                            <a:srgbClr val="8E7CC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Descripción</a:t>
                      </a:r>
                      <a:endParaRPr>
                        <a:solidFill>
                          <a:srgbClr val="8E7CC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600">
                          <a:solidFill>
                            <a:srgbClr val="B7B7B7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60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es-419" sz="1600">
                          <a:solidFill>
                            <a:srgbClr val="4EC9B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HttpGet</a:t>
                      </a:r>
                      <a:r>
                        <a:rPr lang="es-419" sz="160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2200">
                        <a:solidFill>
                          <a:srgbClr val="B7B7B7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50">
                          <a:solidFill>
                            <a:srgbClr val="B7B7B7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Indica una petición al servidor. Es el verbo por defecto en omisión.</a:t>
                      </a:r>
                      <a:endParaRPr sz="155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600">
                          <a:solidFill>
                            <a:srgbClr val="B7B7B7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POST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60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es-419" sz="1600">
                          <a:solidFill>
                            <a:srgbClr val="4EC9B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HttpPost</a:t>
                      </a:r>
                      <a:r>
                        <a:rPr lang="es-419" sz="160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1600">
                        <a:solidFill>
                          <a:srgbClr val="B7B7B7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600">
                          <a:solidFill>
                            <a:srgbClr val="B7B7B7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Indica que se va a agregar el recurso al servidor.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600">
                          <a:solidFill>
                            <a:srgbClr val="B7B7B7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60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es-419" sz="1600">
                          <a:solidFill>
                            <a:srgbClr val="4EC9B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HttpPut</a:t>
                      </a:r>
                      <a:r>
                        <a:rPr lang="es-419" sz="160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1600">
                        <a:solidFill>
                          <a:srgbClr val="B7B7B7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600">
                          <a:solidFill>
                            <a:srgbClr val="B7B7B7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Indica que se va a actualizar el recurso al servidor.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600">
                          <a:solidFill>
                            <a:srgbClr val="B7B7B7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DELETE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60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es-419" sz="1600">
                          <a:solidFill>
                            <a:srgbClr val="4EC9B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HttpDelete</a:t>
                      </a:r>
                      <a:r>
                        <a:rPr lang="es-419" sz="1600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1600">
                        <a:solidFill>
                          <a:srgbClr val="B7B7B7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600">
                          <a:solidFill>
                            <a:srgbClr val="B7B7B7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Indica que se va a eliminar el recurso del servidor.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Detalle </a:t>
            </a:r>
            <a:r>
              <a:rPr lang="es-419">
                <a:solidFill>
                  <a:schemeClr val="dk2"/>
                </a:solidFill>
              </a:rPr>
              <a:t>Home para Fiesta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4" name="Google Shape;184;p30"/>
          <p:cNvSpPr txBox="1"/>
          <p:nvPr/>
        </p:nvSpPr>
        <p:spPr>
          <a:xfrm>
            <a:off x="153900" y="941525"/>
            <a:ext cx="8678400" cy="3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Vamos a explicar los nuevos </a:t>
            </a:r>
            <a:r>
              <a:rPr lang="es-419" sz="15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métodos</a:t>
            </a:r>
            <a:r>
              <a:rPr lang="es-419" sz="15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endParaRPr sz="15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196850" lvl="0" marL="269999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600"/>
              <a:buFont typeface="Proxima Nova"/>
              <a:buChar char="●"/>
            </a:pPr>
            <a:r>
              <a:rPr lang="es-419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IActionResult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Index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 =&gt; </a:t>
            </a:r>
            <a:r>
              <a:rPr lang="es-419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s-419" sz="15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: vemos que solo devuelve una vista </a:t>
            </a:r>
            <a:r>
              <a:rPr lang="es-419" sz="1500" u="sng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SIN</a:t>
            </a:r>
            <a:r>
              <a:rPr lang="es-419" sz="15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especificar un nombre, esto se traduce a buscar la </a:t>
            </a:r>
            <a:r>
              <a:rPr lang="es-419" sz="1500" u="sng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vista con el mismo nombre del método del controlador/Método</a:t>
            </a:r>
            <a:r>
              <a:rPr lang="es-419" sz="15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(en este caso es </a:t>
            </a:r>
            <a:r>
              <a:rPr i="1" lang="es-419" sz="15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Home/Index.cshtml</a:t>
            </a:r>
            <a:r>
              <a:rPr lang="es-419" sz="15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5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196850" lvl="0" marL="269999" rtl="0" algn="l"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600"/>
              <a:buFont typeface="Proxima Nova"/>
              <a:buChar char="●"/>
            </a:pP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419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HttpGet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419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IActionResult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InvitacionForm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 =&gt; </a:t>
            </a:r>
            <a:r>
              <a:rPr lang="es-419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s-419" sz="15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: el </a:t>
            </a:r>
            <a:r>
              <a:rPr i="1" lang="es-419" sz="15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DA</a:t>
            </a:r>
            <a:r>
              <a:rPr lang="es-419" sz="15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nos indica que se le pide al servidor la vista para ver dar de alta una invitación (en este caso es </a:t>
            </a:r>
            <a:r>
              <a:rPr i="1" lang="es-419" sz="15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Home/InvitacionForm.cshtml</a:t>
            </a:r>
            <a:r>
              <a:rPr lang="es-419" sz="15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).</a:t>
            </a:r>
            <a:endParaRPr sz="15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196850" lvl="0" marL="269999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600"/>
              <a:buFont typeface="Proxima Nova"/>
              <a:buChar char="●"/>
            </a:pP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s-419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HttpPost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s-419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IActionResult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InvitacionForm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419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s-419" sz="15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: tiene el mismo nombre que el anterior, pero el </a:t>
            </a:r>
            <a:r>
              <a:rPr i="1" lang="es-419" sz="15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DA</a:t>
            </a:r>
            <a:r>
              <a:rPr lang="es-419" sz="15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lo diferencia con que el método responderá al verbo </a:t>
            </a:r>
            <a:r>
              <a:rPr i="1" lang="es-419" sz="15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POST</a:t>
            </a:r>
            <a:r>
              <a:rPr lang="es-419" sz="15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. Vemos que la función del mismo es almacenar la invitación y luego devolver una vista de Gracias.cshtml.</a:t>
            </a:r>
            <a:endParaRPr sz="15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196850" lvl="0" marL="269999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600"/>
              <a:buFont typeface="Proxima Nova"/>
              <a:buChar char="●"/>
            </a:pPr>
            <a:r>
              <a:rPr lang="es-419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ViewResult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ListaRespuestas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 =&gt; </a:t>
            </a:r>
            <a:r>
              <a:rPr lang="es-419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Repositorio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InvitacionesAceptadas</a:t>
            </a:r>
            <a:r>
              <a:rPr lang="es-419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s-419" sz="15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: retorna la vista </a:t>
            </a:r>
            <a:r>
              <a:rPr i="1" lang="es-419" sz="15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Home/ListaRespuestas.cshtml</a:t>
            </a:r>
            <a:r>
              <a:rPr lang="es-419" sz="15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creandola con las invitaciones aceptadas.</a:t>
            </a:r>
            <a:endParaRPr sz="15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Index invitación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90" name="Google Shape;190;p31"/>
          <p:cNvSpPr txBox="1"/>
          <p:nvPr/>
        </p:nvSpPr>
        <p:spPr>
          <a:xfrm>
            <a:off x="153900" y="1017725"/>
            <a:ext cx="86784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Vamos a agregar cambiar el contenido del archivo al siguiente:</a:t>
            </a:r>
            <a:endParaRPr i="1"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1" name="Google Shape;191;p31"/>
          <p:cNvSpPr txBox="1"/>
          <p:nvPr/>
        </p:nvSpPr>
        <p:spPr>
          <a:xfrm>
            <a:off x="153900" y="1377325"/>
            <a:ext cx="4491600" cy="29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@{</a:t>
            </a:r>
            <a:endParaRPr sz="1050">
              <a:solidFill>
                <a:srgbClr val="C586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Layout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>
              <a:solidFill>
                <a:srgbClr val="C586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"Fiesta"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Te invito a mi fiesta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Hace click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asp-action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0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"InvitacionForm"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aca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para anotarte</a:t>
            </a:r>
            <a:endParaRPr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C586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" name="Google Shape;192;p31"/>
          <p:cNvSpPr txBox="1"/>
          <p:nvPr/>
        </p:nvSpPr>
        <p:spPr>
          <a:xfrm>
            <a:off x="4645500" y="1739463"/>
            <a:ext cx="41868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Si compilamos y ejecutamos este proyecto, se va a abrir el navegador mostrandonos:</a:t>
            </a:r>
            <a:endParaRPr/>
          </a:p>
        </p:txBody>
      </p:sp>
      <p:pic>
        <p:nvPicPr>
          <p:cNvPr id="193" name="Google Shape;19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0085" y="2543500"/>
            <a:ext cx="3337626" cy="15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Tag Helper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99" name="Google Shape;199;p32"/>
          <p:cNvSpPr txBox="1"/>
          <p:nvPr/>
        </p:nvSpPr>
        <p:spPr>
          <a:xfrm>
            <a:off x="153900" y="941525"/>
            <a:ext cx="8678400" cy="3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En el código anterior vemos algo nuevo con </a:t>
            </a:r>
            <a:r>
              <a:rPr lang="es-419" sz="15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5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419" sz="15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5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asp-action</a:t>
            </a:r>
            <a:r>
              <a:rPr lang="es-419" sz="15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5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"InvitacionForm"</a:t>
            </a:r>
            <a:r>
              <a:rPr lang="es-419" sz="15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5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aca</a:t>
            </a:r>
            <a:r>
              <a:rPr lang="es-419" sz="15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5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419" sz="15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La parte de la </a:t>
            </a:r>
            <a:r>
              <a:rPr lang="es-419" sz="15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, es una etiqueta común de html un hipervínculo, pero en vez de seguir con </a:t>
            </a:r>
            <a:r>
              <a:rPr lang="es-419" sz="1700">
                <a:solidFill>
                  <a:srgbClr val="569CD6"/>
                </a:solidFill>
                <a:latin typeface="Proxima Nova"/>
                <a:ea typeface="Proxima Nova"/>
                <a:cs typeface="Proxima Nova"/>
                <a:sym typeface="Proxima Nova"/>
              </a:rPr>
              <a:t>href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, vemos incrustado entre el código HTML la sintaxis </a:t>
            </a:r>
            <a:r>
              <a:rPr lang="es-419" sz="15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asp-action</a:t>
            </a:r>
            <a:r>
              <a:rPr lang="es-419" sz="15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5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"cadena"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que es lo que se conoce como un Tag Helper.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Es sintaxis propia del motor Razor que se va a transformar en código HTML. Su uso se orienta a agilizar el desarrollo y a poder adaptar fácilmente cambios en el código.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Entre los que más vamos a usar se encuentran: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03200" lvl="0" marL="269999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700"/>
              <a:buFont typeface="Proxima Nova"/>
              <a:buChar char="●"/>
            </a:pPr>
            <a:r>
              <a:rPr lang="es-419" sz="15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asp-controller</a:t>
            </a:r>
            <a:r>
              <a:rPr lang="es-419" sz="15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5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"cadena"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: donde cadena es el nombre del controlador.</a:t>
            </a:r>
            <a:endParaRPr sz="1550">
              <a:solidFill>
                <a:srgbClr val="4EC9B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03200" lvl="0" marL="2699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700"/>
              <a:buFont typeface="Proxima Nova"/>
              <a:buChar char="●"/>
            </a:pPr>
            <a:r>
              <a:rPr lang="es-419" sz="15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asp-action</a:t>
            </a:r>
            <a:r>
              <a:rPr lang="es-419" sz="15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5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"cadena"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: donde cadena es el nombre del método del controlador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03200" lvl="0" marL="2699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700"/>
              <a:buFont typeface="Proxima Nova"/>
              <a:buChar char="●"/>
            </a:pPr>
            <a:r>
              <a:rPr lang="es-419" sz="15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asp-for</a:t>
            </a:r>
            <a:r>
              <a:rPr lang="es-419" sz="15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5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"propiedad"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: este TAG se encarga de asignarle las propiedades al elemento HTML donde lo usamos y </a:t>
            </a:r>
            <a:r>
              <a:rPr i="1"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vincular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el contenido del control con la </a:t>
            </a:r>
            <a:r>
              <a:rPr lang="es-419" sz="15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"propiedad"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de @Model de la vista.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FormInvitacion.cshtml - Model y Head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5" name="Google Shape;205;p33"/>
          <p:cNvSpPr txBox="1"/>
          <p:nvPr/>
        </p:nvSpPr>
        <p:spPr>
          <a:xfrm>
            <a:off x="153900" y="1147250"/>
            <a:ext cx="4900500" cy="3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@model</a:t>
            </a:r>
            <a:r>
              <a:rPr lang="es-419" sz="16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6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EjemploMVC</a:t>
            </a:r>
            <a:r>
              <a:rPr lang="es-419" sz="16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6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Models</a:t>
            </a:r>
            <a:r>
              <a:rPr lang="es-419" sz="16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6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endParaRPr sz="1650">
              <a:solidFill>
                <a:srgbClr val="4EC9B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@{</a:t>
            </a:r>
            <a:endParaRPr sz="1650">
              <a:solidFill>
                <a:srgbClr val="C586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6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Layout</a:t>
            </a:r>
            <a:r>
              <a:rPr lang="es-419" sz="16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419" sz="16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s-419" sz="16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50">
              <a:solidFill>
                <a:srgbClr val="C586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&lt;!</a:t>
            </a:r>
            <a:r>
              <a:rPr lang="es-419" sz="16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DOCTYPE</a:t>
            </a:r>
            <a:r>
              <a:rPr lang="es-419" sz="16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6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6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6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6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6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6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6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6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Formulario Invitacion</a:t>
            </a: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6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6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6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6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6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6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 ...</a:t>
            </a:r>
            <a:endParaRPr sz="16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6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6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6" name="Google Shape;206;p33"/>
          <p:cNvSpPr txBox="1"/>
          <p:nvPr/>
        </p:nvSpPr>
        <p:spPr>
          <a:xfrm>
            <a:off x="5054400" y="1338362"/>
            <a:ext cx="3777900" cy="27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Acá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vemos que usamos @model aunque cuando lo llamamos con el método con verbo GET no se lo pasamos como 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parámetro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a la vista.</a:t>
            </a:r>
            <a:endParaRPr sz="16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Esto es porque esta vista 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está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orientada a dar de alta un objeto de la clase Invitación, entonces la vista va a ser la encargada de instanciar el objeto y asignarle las propiedades como veremos más adelante.</a:t>
            </a:r>
            <a:endParaRPr sz="16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FormInvitacion.cshtml - Body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12" name="Google Shape;212;p34"/>
          <p:cNvSpPr txBox="1"/>
          <p:nvPr/>
        </p:nvSpPr>
        <p:spPr>
          <a:xfrm>
            <a:off x="153900" y="865325"/>
            <a:ext cx="4491600" cy="4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form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asp-action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0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"InvitacionForm"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method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0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"post"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asp-validation-summary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0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"All"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asp-for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0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"Nombre"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Nombre: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asp-for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0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"Nombre"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asp-for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0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"Apellido"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Apellido: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asp-for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0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"Apellido"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asp-for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0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"Telefono"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Telefono: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asp-for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0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"Telefono"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¿Vas a venir?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asp-for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0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"Vendra"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option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0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Elegi una opción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option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option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0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"true"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Sip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option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option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0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"false"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Noup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option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0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"submit"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Enviar respuesta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form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3" name="Google Shape;213;p34"/>
          <p:cNvSpPr txBox="1"/>
          <p:nvPr/>
        </p:nvSpPr>
        <p:spPr>
          <a:xfrm>
            <a:off x="5015150" y="1335138"/>
            <a:ext cx="35256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Solo pusimos la parte significativa del código, pero nos va a dar esta vista:</a:t>
            </a:r>
            <a:endParaRPr/>
          </a:p>
        </p:txBody>
      </p:sp>
      <p:pic>
        <p:nvPicPr>
          <p:cNvPr id="214" name="Google Shape;21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9062" y="1999462"/>
            <a:ext cx="3617775" cy="18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FormInvitacion.cshtml Body - Detalles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20" name="Google Shape;220;p35"/>
          <p:cNvSpPr txBox="1"/>
          <p:nvPr/>
        </p:nvSpPr>
        <p:spPr>
          <a:xfrm>
            <a:off x="153900" y="941525"/>
            <a:ext cx="8678400" cy="3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form</a:t>
            </a:r>
            <a:r>
              <a:rPr lang="es-419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3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asp-action</a:t>
            </a:r>
            <a:r>
              <a:rPr lang="es-419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"InvitacionForm"</a:t>
            </a:r>
            <a:r>
              <a:rPr lang="es-419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3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method</a:t>
            </a:r>
            <a:r>
              <a:rPr lang="es-419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"post"</a:t>
            </a:r>
            <a:r>
              <a:rPr lang="es-419" sz="13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: esta etiqueta se compone por la parte del </a:t>
            </a:r>
            <a:r>
              <a:rPr lang="es-419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form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donde indicamos que crearemos un formulario, la etiqueta </a:t>
            </a:r>
            <a:r>
              <a:rPr lang="es-419" sz="13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asp-action</a:t>
            </a:r>
            <a:r>
              <a:rPr lang="es-419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"InvitacionForm"</a:t>
            </a:r>
            <a:r>
              <a:rPr lang="es-419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3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method</a:t>
            </a:r>
            <a:r>
              <a:rPr lang="es-419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"post" 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que indica que el formulario va a ejecutar el método InvitacionForm() con el verbo http </a:t>
            </a:r>
            <a:r>
              <a:rPr i="1"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POST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. Si bien el método recibe un parámetro del tipo </a:t>
            </a:r>
            <a:r>
              <a:rPr i="1"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Invitacion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, este ya esta implicito en el @model que vimos </a:t>
            </a:r>
            <a:r>
              <a:rPr b="1" lang="es-419" sz="1600" u="sng">
                <a:solidFill>
                  <a:srgbClr val="569CD6"/>
                </a:solidFill>
                <a:latin typeface="Proxima Nova"/>
                <a:ea typeface="Proxima Nova"/>
                <a:cs typeface="Proxima Nova"/>
                <a:sym typeface="Proxima Nov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anteriormente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6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s-419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3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asp-validation-summary</a:t>
            </a:r>
            <a:r>
              <a:rPr lang="es-419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"All"</a:t>
            </a:r>
            <a:r>
              <a:rPr lang="es-419" sz="13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s-419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s-419" sz="13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: en esta sección, delegamos en la vista la verificación del Modelo.</a:t>
            </a:r>
            <a:endParaRPr sz="16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s-419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3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asp-for</a:t>
            </a:r>
            <a:r>
              <a:rPr lang="es-419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"Nombre"</a:t>
            </a:r>
            <a:r>
              <a:rPr lang="es-419" sz="13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Nombre:</a:t>
            </a:r>
            <a:r>
              <a:rPr lang="es-419" sz="13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s-419" sz="13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: con esta etiqueta, indicamos el componente HTML etiqueta dentro del formulario.</a:t>
            </a:r>
            <a:endParaRPr sz="16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s-419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3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asp-for</a:t>
            </a:r>
            <a:r>
              <a:rPr lang="es-419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"Nombre"</a:t>
            </a:r>
            <a:r>
              <a:rPr lang="es-419" sz="13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: con la etiqueta  indicamos que vamos a usar el control de entrada de información HTML e indicamos que el contenido de ese control, se va a usar para asignar a la propiedad </a:t>
            </a:r>
            <a:r>
              <a:rPr i="1"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Nombre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del @Model.</a:t>
            </a:r>
            <a:endParaRPr sz="16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es-419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3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es-419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"submit"</a:t>
            </a:r>
            <a:r>
              <a:rPr lang="es-419" sz="13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Enviar respuesta</a:t>
            </a:r>
            <a:r>
              <a:rPr lang="es-419" sz="13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es-419" sz="13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6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: Botón del formulario que lo envía.</a:t>
            </a:r>
            <a:endParaRPr sz="16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/>
          <p:nvPr/>
        </p:nvSpPr>
        <p:spPr>
          <a:xfrm>
            <a:off x="286200" y="1780350"/>
            <a:ext cx="8520600" cy="15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Cuando hacemos click en el botón “Enviar Respuesta”, los datos del f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ormulario son tomados por la vista para instanciar el objeto de su @model (</a:t>
            </a:r>
            <a:r>
              <a:rPr i="1"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Invitación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) e invoca al método </a:t>
            </a:r>
            <a:r>
              <a:rPr i="1" lang="es-419" sz="1700" u="sng">
                <a:solidFill>
                  <a:srgbClr val="569CD6"/>
                </a:solidFill>
                <a:latin typeface="Proxima Nova"/>
                <a:ea typeface="Proxima Nova"/>
                <a:cs typeface="Proxima Nova"/>
                <a:sym typeface="Proxima Nov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POST</a:t>
            </a:r>
            <a:r>
              <a:rPr lang="es-419" sz="1700" u="sng">
                <a:solidFill>
                  <a:srgbClr val="569CD6"/>
                </a:solidFill>
                <a:latin typeface="Proxima Nova"/>
                <a:ea typeface="Proxima Nova"/>
                <a:cs typeface="Proxima Nova"/>
                <a:sym typeface="Proxima Nov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de InvitacionForm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pasándole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como 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parámetro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la invitacion creada.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Dentro del 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método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ya vimos que el repositorio persiste la invitación nueva y 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devuelve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una vista de agradecimiento pasandole la invitación creada.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6" name="Google Shape;22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Del Post Invitación.cshtml a Vista Gracias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Vista Gracias</a:t>
            </a:r>
            <a:r>
              <a:rPr lang="es-419">
                <a:solidFill>
                  <a:schemeClr val="dk2"/>
                </a:solidFill>
              </a:rPr>
              <a:t>.cshtml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32" name="Google Shape;232;p37"/>
          <p:cNvSpPr txBox="1"/>
          <p:nvPr/>
        </p:nvSpPr>
        <p:spPr>
          <a:xfrm>
            <a:off x="153900" y="865325"/>
            <a:ext cx="5658900" cy="4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@model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EjemploMVC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Models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endParaRPr sz="1050">
              <a:solidFill>
                <a:srgbClr val="4EC9B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@{</a:t>
            </a:r>
            <a:endParaRPr sz="1050">
              <a:solidFill>
                <a:srgbClr val="C586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Layout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>
              <a:solidFill>
                <a:srgbClr val="C586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&lt;!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DOCTYPE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Gracias por responder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¡Gracias, </a:t>
            </a:r>
            <a:r>
              <a:rPr lang="es-419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s-419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Model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s-419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Model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Apellido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@if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419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Model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Vendra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{</a:t>
            </a:r>
            <a:endParaRPr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s-419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@: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Buenisimo que vengas, trae tu propio mate.</a:t>
            </a:r>
            <a:endParaRPr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050">
              <a:solidFill>
                <a:srgbClr val="C586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{</a:t>
            </a:r>
            <a:endParaRPr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s-419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@: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Que pena que no vengas, gracias igual por avisar.</a:t>
            </a:r>
            <a:endParaRPr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Click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asp-action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0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"ListaRespuestas"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aca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para ver quienes vienen.</a:t>
            </a:r>
            <a:endParaRPr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33" name="Google Shape;23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6598" y="1701700"/>
            <a:ext cx="3503250" cy="174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Detalles Gracias.cshtml - If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39" name="Google Shape;239;p38"/>
          <p:cNvSpPr txBox="1"/>
          <p:nvPr/>
        </p:nvSpPr>
        <p:spPr>
          <a:xfrm>
            <a:off x="153900" y="1253750"/>
            <a:ext cx="8678400" cy="28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Bien, vamos a ver el 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código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nuevo de esta vista: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6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6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¡Gracias, </a:t>
            </a:r>
            <a:r>
              <a:rPr lang="es-419" sz="16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s-419" sz="16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Model</a:t>
            </a:r>
            <a:r>
              <a:rPr lang="es-419" sz="16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6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lang="es-419" sz="16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6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s-419" sz="16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Model</a:t>
            </a:r>
            <a:r>
              <a:rPr lang="es-419" sz="16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6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Apellido</a:t>
            </a:r>
            <a:r>
              <a:rPr lang="es-419" sz="16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6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: Bien, acá vemos que invocamos al objeto </a:t>
            </a:r>
            <a:r>
              <a:rPr lang="es-419" sz="16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s-419" sz="16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Model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de la vista (que en la 1ra línea vemos que es del tipo </a:t>
            </a:r>
            <a:r>
              <a:rPr i="1"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Invitacion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) para incrustar en el título </a:t>
            </a:r>
            <a:r>
              <a:rPr i="1"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h1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en el saludo el nombre y el apellido (ambas propiedades de </a:t>
            </a:r>
            <a:r>
              <a:rPr i="1"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Invitacion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).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419" sz="14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@if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419" sz="14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Model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4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Vendra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lang="es-419" sz="14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s-419" sz="14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: aca vemos que para usar las instrucciones de C# (if, for, foreach) anteponemos el </a:t>
            </a:r>
            <a:r>
              <a:rPr lang="es-419" sz="14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a la instrucción (con eso le indicamos al motor Razor que lo que sigue es una instrucción C# para el código dinámico). Si la invitación tiene Vendra en </a:t>
            </a:r>
            <a:r>
              <a:rPr i="1"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true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se muestra un mensaje, caso contrario se muestra otro mensaje.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Vista ListaRespuestas</a:t>
            </a:r>
            <a:r>
              <a:rPr lang="es-419">
                <a:solidFill>
                  <a:schemeClr val="dk2"/>
                </a:solidFill>
              </a:rPr>
              <a:t>.cshtml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5" name="Google Shape;245;p39"/>
          <p:cNvSpPr txBox="1"/>
          <p:nvPr/>
        </p:nvSpPr>
        <p:spPr>
          <a:xfrm>
            <a:off x="153900" y="865325"/>
            <a:ext cx="6015600" cy="4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@model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IEnumerable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EjemploMVC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Models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Personas que vienen a la fiesta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thead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Apellido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Telefono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thead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tbody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s-419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@foreach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EjemploMVC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Models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Model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  {</a:t>
            </a:r>
            <a:endParaRPr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s-419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s-419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Apellido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s-419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0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Telefono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tr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sz="10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tbody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hr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asp-action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0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"InvitacionForm"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Ingresar otra respuesta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0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asp-action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419" sz="10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"Index"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0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Volver al Inicio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0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s-419" sz="10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C586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46" name="Google Shape;24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7375" y="1917163"/>
            <a:ext cx="3184925" cy="197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Vista ListaRespuestas.cshtml - Detalles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2" name="Google Shape;252;p40"/>
          <p:cNvSpPr txBox="1"/>
          <p:nvPr/>
        </p:nvSpPr>
        <p:spPr>
          <a:xfrm>
            <a:off x="153900" y="1253750"/>
            <a:ext cx="8678400" cy="3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Bien, vamos a ver el código nuevo de esta vista: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419" sz="1700" u="sng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Código</a:t>
            </a:r>
            <a:r>
              <a:rPr lang="es-419" sz="1700" u="sng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de tablas HTML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: en esta vista se crea una tabla HTML, todo el 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código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pertinente en este </a:t>
            </a:r>
            <a:r>
              <a:rPr lang="es-419" sz="1700" u="sng">
                <a:solidFill>
                  <a:srgbClr val="569CD6"/>
                </a:solidFill>
                <a:latin typeface="Proxima Nova"/>
                <a:ea typeface="Proxima Nova"/>
                <a:cs typeface="Proxima Nova"/>
                <a:sym typeface="Proxima Nov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(solo leer la página uno que con eso basta para entender el código)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419" sz="16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@foreach</a:t>
            </a:r>
            <a:r>
              <a:rPr lang="es-419" sz="16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419" sz="16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EjemploMVC</a:t>
            </a:r>
            <a:r>
              <a:rPr lang="es-419" sz="16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6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Models</a:t>
            </a:r>
            <a:r>
              <a:rPr lang="es-419" sz="16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6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r>
              <a:rPr lang="es-419" sz="16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6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r>
              <a:rPr lang="es-419" sz="16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6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-419" sz="16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419" sz="16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Model</a:t>
            </a:r>
            <a:r>
              <a:rPr lang="es-419" sz="16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: recordemos que cuando vemos </a:t>
            </a:r>
            <a:r>
              <a:rPr lang="es-419" sz="16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delante de sintaxis de C#, es código que el motor Razor va a transformar finalmente a HTML. En este caso, el </a:t>
            </a:r>
            <a:r>
              <a:rPr lang="es-419" sz="16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@foreach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 itera sobre el modelo (recordemos que el modelo es una colección de invitaciones, por eso es válido).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s-419" sz="16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6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s-419" sz="16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r>
              <a:rPr lang="es-419" sz="16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s-419" sz="16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s-419" sz="16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es-419" sz="165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: en esta parte (dentro del </a:t>
            </a:r>
            <a:r>
              <a:rPr lang="es-419" sz="16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@foreach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) usamos el objeto que itera sobre la colección (</a:t>
            </a:r>
            <a:r>
              <a:rPr lang="es-419" sz="16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es-419" sz="16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invitacion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) para pedir las propiedades (en este caso </a:t>
            </a:r>
            <a:r>
              <a:rPr lang="es-419" sz="16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) y rellenar el contenido de las celdas.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</a:rPr>
              <a:t>Ejemplo y </a:t>
            </a:r>
            <a:r>
              <a:rPr lang="es-419">
                <a:solidFill>
                  <a:schemeClr val="dk2"/>
                </a:solidFill>
              </a:rPr>
              <a:t>Bibliografía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8" name="Google Shape;258;p41"/>
          <p:cNvSpPr txBox="1"/>
          <p:nvPr/>
        </p:nvSpPr>
        <p:spPr>
          <a:xfrm>
            <a:off x="286200" y="1780350"/>
            <a:ext cx="85206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Ejemplo: </a:t>
            </a:r>
            <a:r>
              <a:rPr lang="es-419" sz="1700" u="sng">
                <a:solidFill>
                  <a:srgbClr val="569CD6"/>
                </a:solidFill>
                <a:latin typeface="Proxima Nova"/>
                <a:ea typeface="Proxima Nova"/>
                <a:cs typeface="Proxima Nova"/>
                <a:sym typeface="Proxima Nov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Código</a:t>
            </a:r>
            <a:r>
              <a:rPr lang="es-419" sz="1700" u="sng">
                <a:solidFill>
                  <a:srgbClr val="569CD6"/>
                </a:solidFill>
                <a:latin typeface="Proxima Nova"/>
                <a:ea typeface="Proxima Nova"/>
                <a:cs typeface="Proxima Nova"/>
                <a:sym typeface="Proxima Nov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con ejemplo de las invitaciones</a:t>
            </a:r>
            <a:endParaRPr sz="1700">
              <a:solidFill>
                <a:srgbClr val="569CD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Bibliografía</a:t>
            </a:r>
            <a:r>
              <a:rPr lang="es-419" sz="1700">
                <a:solidFill>
                  <a:srgbClr val="B7B7B7"/>
                </a:solidFill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endParaRPr sz="1700">
              <a:solidFill>
                <a:srgbClr val="B7B7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rgbClr val="569CD6"/>
              </a:buClr>
              <a:buSzPts val="1700"/>
              <a:buFont typeface="Proxima Nova"/>
              <a:buChar char="●"/>
            </a:pPr>
            <a:r>
              <a:rPr lang="es-419" sz="1700" u="sng">
                <a:solidFill>
                  <a:srgbClr val="569CD6"/>
                </a:solidFill>
                <a:latin typeface="Proxima Nova"/>
                <a:ea typeface="Proxima Nova"/>
                <a:cs typeface="Proxima Nova"/>
                <a:sym typeface="Proxima Nov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Documentación oficial MSDN</a:t>
            </a:r>
            <a:endParaRPr sz="1700">
              <a:solidFill>
                <a:srgbClr val="569CD6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700"/>
              <a:buFont typeface="Proxima Nova"/>
              <a:buChar char="●"/>
            </a:pPr>
            <a:r>
              <a:rPr lang="es-419" sz="1700" u="sng">
                <a:solidFill>
                  <a:srgbClr val="569CD6"/>
                </a:solidFill>
                <a:latin typeface="Proxima Nova"/>
                <a:ea typeface="Proxima Nova"/>
                <a:cs typeface="Proxima Nova"/>
                <a:sym typeface="Proxima Nov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 ASP.NET Core 3 de Adam Freeman</a:t>
            </a:r>
            <a:endParaRPr sz="1700">
              <a:solidFill>
                <a:srgbClr val="569CD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